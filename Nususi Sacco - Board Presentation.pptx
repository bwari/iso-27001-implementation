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7" r:id="rId10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97" d="100"/>
          <a:sy n="97" d="100"/>
        </p:scale>
        <p:origin x="10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F2E9FD-93E6-4241-B60F-316E4C008E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C8BBBE-B8D6-4757-9A0E-3B9B44C1083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Scope Definition &amp; Leadership Commitment</a:t>
          </a:r>
        </a:p>
      </dgm:t>
    </dgm:pt>
    <dgm:pt modelId="{C31AC381-ED4C-4234-99F4-FBC3BA22E463}" type="parTrans" cxnId="{CE742276-7B23-4F55-8F9E-1D24A39FF5FA}">
      <dgm:prSet/>
      <dgm:spPr/>
      <dgm:t>
        <a:bodyPr/>
        <a:lstStyle/>
        <a:p>
          <a:endParaRPr lang="en-US"/>
        </a:p>
      </dgm:t>
    </dgm:pt>
    <dgm:pt modelId="{8E2172F3-EE10-4FB7-9227-E3A3B92B17ED}" type="sibTrans" cxnId="{CE742276-7B23-4F55-8F9E-1D24A39FF5FA}">
      <dgm:prSet/>
      <dgm:spPr/>
      <dgm:t>
        <a:bodyPr/>
        <a:lstStyle/>
        <a:p>
          <a:endParaRPr lang="en-US"/>
        </a:p>
      </dgm:t>
    </dgm:pt>
    <dgm:pt modelId="{0521A328-F45D-4F78-A0E3-30EBB72621E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Gap Analysis &amp; Risk Assessment</a:t>
          </a:r>
        </a:p>
      </dgm:t>
    </dgm:pt>
    <dgm:pt modelId="{2225F51E-1A67-468C-A600-AD7050D4F679}" type="parTrans" cxnId="{11323AA9-56D0-4FF0-9F77-7B18D41CD355}">
      <dgm:prSet/>
      <dgm:spPr/>
      <dgm:t>
        <a:bodyPr/>
        <a:lstStyle/>
        <a:p>
          <a:endParaRPr lang="en-US"/>
        </a:p>
      </dgm:t>
    </dgm:pt>
    <dgm:pt modelId="{57E58A83-51D6-47EA-A57A-18DECF846C7D}" type="sibTrans" cxnId="{11323AA9-56D0-4FF0-9F77-7B18D41CD355}">
      <dgm:prSet/>
      <dgm:spPr/>
      <dgm:t>
        <a:bodyPr/>
        <a:lstStyle/>
        <a:p>
          <a:endParaRPr lang="en-US"/>
        </a:p>
      </dgm:t>
    </dgm:pt>
    <dgm:pt modelId="{0D1028FC-A757-4CB2-98BB-44C7AFF5D19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Control Selection &amp; Documentation</a:t>
          </a:r>
        </a:p>
      </dgm:t>
    </dgm:pt>
    <dgm:pt modelId="{62BEE578-327C-47EE-A18A-3AB4BB671B1B}" type="parTrans" cxnId="{E0E4456A-C550-433F-B54A-0E62AD31E186}">
      <dgm:prSet/>
      <dgm:spPr/>
      <dgm:t>
        <a:bodyPr/>
        <a:lstStyle/>
        <a:p>
          <a:endParaRPr lang="en-US"/>
        </a:p>
      </dgm:t>
    </dgm:pt>
    <dgm:pt modelId="{D4459220-872E-4A29-AD1B-00598710970A}" type="sibTrans" cxnId="{E0E4456A-C550-433F-B54A-0E62AD31E186}">
      <dgm:prSet/>
      <dgm:spPr/>
      <dgm:t>
        <a:bodyPr/>
        <a:lstStyle/>
        <a:p>
          <a:endParaRPr lang="en-US"/>
        </a:p>
      </dgm:t>
    </dgm:pt>
    <dgm:pt modelId="{8A42FBE4-69FF-4B0B-9BC0-9C6D91C5780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Control Implementation &amp; Awareness Training</a:t>
          </a:r>
        </a:p>
      </dgm:t>
    </dgm:pt>
    <dgm:pt modelId="{4DA97690-1B5C-40EC-A227-82B1A2997892}" type="parTrans" cxnId="{CA33ADE7-8102-4BDD-B0FE-4E0CE2105847}">
      <dgm:prSet/>
      <dgm:spPr/>
      <dgm:t>
        <a:bodyPr/>
        <a:lstStyle/>
        <a:p>
          <a:endParaRPr lang="en-US"/>
        </a:p>
      </dgm:t>
    </dgm:pt>
    <dgm:pt modelId="{2D53A9C7-4CCE-41A6-9DEC-734B5232F855}" type="sibTrans" cxnId="{CA33ADE7-8102-4BDD-B0FE-4E0CE2105847}">
      <dgm:prSet/>
      <dgm:spPr/>
      <dgm:t>
        <a:bodyPr/>
        <a:lstStyle/>
        <a:p>
          <a:endParaRPr lang="en-US"/>
        </a:p>
      </dgm:t>
    </dgm:pt>
    <dgm:pt modelId="{25DC6F67-C836-4584-B28E-B52AE3DBF50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Internal Audit &amp; Management Review</a:t>
          </a:r>
        </a:p>
      </dgm:t>
    </dgm:pt>
    <dgm:pt modelId="{3F805671-5020-4C5D-B4A9-BEAC9131B3A8}" type="parTrans" cxnId="{0EF1803C-E734-4F97-A673-9D504D7F596C}">
      <dgm:prSet/>
      <dgm:spPr/>
      <dgm:t>
        <a:bodyPr/>
        <a:lstStyle/>
        <a:p>
          <a:endParaRPr lang="en-US"/>
        </a:p>
      </dgm:t>
    </dgm:pt>
    <dgm:pt modelId="{08F6AE2F-0E8E-46E4-A550-C032D27EBA52}" type="sibTrans" cxnId="{0EF1803C-E734-4F97-A673-9D504D7F596C}">
      <dgm:prSet/>
      <dgm:spPr/>
      <dgm:t>
        <a:bodyPr/>
        <a:lstStyle/>
        <a:p>
          <a:endParaRPr lang="en-US"/>
        </a:p>
      </dgm:t>
    </dgm:pt>
    <dgm:pt modelId="{5793FE81-E805-4752-BC23-591814B2615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Certification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Readines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98D509-A05A-49D2-B4BE-1EE757B9DA55}" type="parTrans" cxnId="{00C12F97-404C-4320-BA6C-CEFEB9C8835F}">
      <dgm:prSet/>
      <dgm:spPr/>
      <dgm:t>
        <a:bodyPr/>
        <a:lstStyle/>
        <a:p>
          <a:endParaRPr lang="en-US"/>
        </a:p>
      </dgm:t>
    </dgm:pt>
    <dgm:pt modelId="{615AE90C-6348-4714-9A01-103FA98D6B8F}" type="sibTrans" cxnId="{00C12F97-404C-4320-BA6C-CEFEB9C8835F}">
      <dgm:prSet/>
      <dgm:spPr/>
      <dgm:t>
        <a:bodyPr/>
        <a:lstStyle/>
        <a:p>
          <a:endParaRPr lang="en-US"/>
        </a:p>
      </dgm:t>
    </dgm:pt>
    <dgm:pt modelId="{3697B9A2-4BDA-4DE8-B03E-DAEF518F7162}" type="pres">
      <dgm:prSet presAssocID="{1DF2E9FD-93E6-4241-B60F-316E4C008E29}" presName="root" presStyleCnt="0">
        <dgm:presLayoutVars>
          <dgm:dir/>
          <dgm:resizeHandles val="exact"/>
        </dgm:presLayoutVars>
      </dgm:prSet>
      <dgm:spPr/>
    </dgm:pt>
    <dgm:pt modelId="{1FEBD717-6D81-4525-A95E-EC8C666E190A}" type="pres">
      <dgm:prSet presAssocID="{62C8BBBE-B8D6-4757-9A0E-3B9B44C10837}" presName="compNode" presStyleCnt="0"/>
      <dgm:spPr/>
    </dgm:pt>
    <dgm:pt modelId="{4C3E6130-F3AE-4918-A8C3-57C91685A10F}" type="pres">
      <dgm:prSet presAssocID="{62C8BBBE-B8D6-4757-9A0E-3B9B44C10837}" presName="bgRect" presStyleLbl="bgShp" presStyleIdx="0" presStyleCnt="6"/>
      <dgm:spPr/>
    </dgm:pt>
    <dgm:pt modelId="{0874DB34-F554-4A3B-A0C7-3829A41DB541}" type="pres">
      <dgm:prSet presAssocID="{62C8BBBE-B8D6-4757-9A0E-3B9B44C1083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7D56734-BD6D-4AE9-88E0-4F602AB90B44}" type="pres">
      <dgm:prSet presAssocID="{62C8BBBE-B8D6-4757-9A0E-3B9B44C10837}" presName="spaceRect" presStyleCnt="0"/>
      <dgm:spPr/>
    </dgm:pt>
    <dgm:pt modelId="{DDCFD58B-2A9A-4985-9907-5CF2C6A5F9E6}" type="pres">
      <dgm:prSet presAssocID="{62C8BBBE-B8D6-4757-9A0E-3B9B44C10837}" presName="parTx" presStyleLbl="revTx" presStyleIdx="0" presStyleCnt="6">
        <dgm:presLayoutVars>
          <dgm:chMax val="0"/>
          <dgm:chPref val="0"/>
        </dgm:presLayoutVars>
      </dgm:prSet>
      <dgm:spPr/>
    </dgm:pt>
    <dgm:pt modelId="{FB439075-9BC9-4577-A762-A90224E5C5B1}" type="pres">
      <dgm:prSet presAssocID="{8E2172F3-EE10-4FB7-9227-E3A3B92B17ED}" presName="sibTrans" presStyleCnt="0"/>
      <dgm:spPr/>
    </dgm:pt>
    <dgm:pt modelId="{63505CB2-C0E2-4ED8-976E-27D834CD6F6A}" type="pres">
      <dgm:prSet presAssocID="{0521A328-F45D-4F78-A0E3-30EBB72621E3}" presName="compNode" presStyleCnt="0"/>
      <dgm:spPr/>
    </dgm:pt>
    <dgm:pt modelId="{AF3267CE-4F18-4266-B244-FF47498D1737}" type="pres">
      <dgm:prSet presAssocID="{0521A328-F45D-4F78-A0E3-30EBB72621E3}" presName="bgRect" presStyleLbl="bgShp" presStyleIdx="1" presStyleCnt="6"/>
      <dgm:spPr/>
    </dgm:pt>
    <dgm:pt modelId="{40635FDC-F3A2-4967-A3D8-7BF07840BAD9}" type="pres">
      <dgm:prSet presAssocID="{0521A328-F45D-4F78-A0E3-30EBB72621E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FA8A459-3255-4121-B60D-9A0DA4D742EC}" type="pres">
      <dgm:prSet presAssocID="{0521A328-F45D-4F78-A0E3-30EBB72621E3}" presName="spaceRect" presStyleCnt="0"/>
      <dgm:spPr/>
    </dgm:pt>
    <dgm:pt modelId="{F35B2F53-EF85-4C62-AA8D-F7C55214E32F}" type="pres">
      <dgm:prSet presAssocID="{0521A328-F45D-4F78-A0E3-30EBB72621E3}" presName="parTx" presStyleLbl="revTx" presStyleIdx="1" presStyleCnt="6">
        <dgm:presLayoutVars>
          <dgm:chMax val="0"/>
          <dgm:chPref val="0"/>
        </dgm:presLayoutVars>
      </dgm:prSet>
      <dgm:spPr/>
    </dgm:pt>
    <dgm:pt modelId="{EF0D9EDC-D5F3-411E-ABD2-E77B2D063D18}" type="pres">
      <dgm:prSet presAssocID="{57E58A83-51D6-47EA-A57A-18DECF846C7D}" presName="sibTrans" presStyleCnt="0"/>
      <dgm:spPr/>
    </dgm:pt>
    <dgm:pt modelId="{D02DE8DF-2D90-48F4-9288-987D4D21391C}" type="pres">
      <dgm:prSet presAssocID="{0D1028FC-A757-4CB2-98BB-44C7AFF5D192}" presName="compNode" presStyleCnt="0"/>
      <dgm:spPr/>
    </dgm:pt>
    <dgm:pt modelId="{04E368FF-5040-494F-9D6A-3C4B6AD51E41}" type="pres">
      <dgm:prSet presAssocID="{0D1028FC-A757-4CB2-98BB-44C7AFF5D192}" presName="bgRect" presStyleLbl="bgShp" presStyleIdx="2" presStyleCnt="6"/>
      <dgm:spPr/>
    </dgm:pt>
    <dgm:pt modelId="{6320920F-4112-4881-816D-AB0F8917CFDD}" type="pres">
      <dgm:prSet presAssocID="{0D1028FC-A757-4CB2-98BB-44C7AFF5D19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870E8CE-736E-4F59-A4CD-AD18EDDE5FC6}" type="pres">
      <dgm:prSet presAssocID="{0D1028FC-A757-4CB2-98BB-44C7AFF5D192}" presName="spaceRect" presStyleCnt="0"/>
      <dgm:spPr/>
    </dgm:pt>
    <dgm:pt modelId="{87200EF8-6D0F-47AC-88C1-31AADC49B89A}" type="pres">
      <dgm:prSet presAssocID="{0D1028FC-A757-4CB2-98BB-44C7AFF5D192}" presName="parTx" presStyleLbl="revTx" presStyleIdx="2" presStyleCnt="6">
        <dgm:presLayoutVars>
          <dgm:chMax val="0"/>
          <dgm:chPref val="0"/>
        </dgm:presLayoutVars>
      </dgm:prSet>
      <dgm:spPr/>
    </dgm:pt>
    <dgm:pt modelId="{9372C77C-8D55-4451-A17C-007C9F5012FB}" type="pres">
      <dgm:prSet presAssocID="{D4459220-872E-4A29-AD1B-00598710970A}" presName="sibTrans" presStyleCnt="0"/>
      <dgm:spPr/>
    </dgm:pt>
    <dgm:pt modelId="{989A6FC5-8B03-4CA7-A894-21B8097AC20F}" type="pres">
      <dgm:prSet presAssocID="{8A42FBE4-69FF-4B0B-9BC0-9C6D91C57803}" presName="compNode" presStyleCnt="0"/>
      <dgm:spPr/>
    </dgm:pt>
    <dgm:pt modelId="{C2847306-0BAA-49F1-96E1-2C13F2214FCF}" type="pres">
      <dgm:prSet presAssocID="{8A42FBE4-69FF-4B0B-9BC0-9C6D91C57803}" presName="bgRect" presStyleLbl="bgShp" presStyleIdx="3" presStyleCnt="6"/>
      <dgm:spPr/>
    </dgm:pt>
    <dgm:pt modelId="{689EC570-ED14-4050-A798-64BE3BF64300}" type="pres">
      <dgm:prSet presAssocID="{8A42FBE4-69FF-4B0B-9BC0-9C6D91C5780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88A32A6-2C3E-455A-975A-543D99E8B6BD}" type="pres">
      <dgm:prSet presAssocID="{8A42FBE4-69FF-4B0B-9BC0-9C6D91C57803}" presName="spaceRect" presStyleCnt="0"/>
      <dgm:spPr/>
    </dgm:pt>
    <dgm:pt modelId="{C6912A7E-3D18-4DD1-A60F-3217D09BB95C}" type="pres">
      <dgm:prSet presAssocID="{8A42FBE4-69FF-4B0B-9BC0-9C6D91C57803}" presName="parTx" presStyleLbl="revTx" presStyleIdx="3" presStyleCnt="6">
        <dgm:presLayoutVars>
          <dgm:chMax val="0"/>
          <dgm:chPref val="0"/>
        </dgm:presLayoutVars>
      </dgm:prSet>
      <dgm:spPr/>
    </dgm:pt>
    <dgm:pt modelId="{A015889B-0D63-4F0E-A744-8B450E853D1F}" type="pres">
      <dgm:prSet presAssocID="{2D53A9C7-4CCE-41A6-9DEC-734B5232F855}" presName="sibTrans" presStyleCnt="0"/>
      <dgm:spPr/>
    </dgm:pt>
    <dgm:pt modelId="{C70B8832-F24B-4F0D-BCA6-04F4E2EC53F3}" type="pres">
      <dgm:prSet presAssocID="{25DC6F67-C836-4584-B28E-B52AE3DBF507}" presName="compNode" presStyleCnt="0"/>
      <dgm:spPr/>
    </dgm:pt>
    <dgm:pt modelId="{23D69C35-45B6-43DC-AFDE-6C3B4CE2350D}" type="pres">
      <dgm:prSet presAssocID="{25DC6F67-C836-4584-B28E-B52AE3DBF507}" presName="bgRect" presStyleLbl="bgShp" presStyleIdx="4" presStyleCnt="6"/>
      <dgm:spPr/>
    </dgm:pt>
    <dgm:pt modelId="{77531163-7BAC-4301-8518-B43613AF3FF8}" type="pres">
      <dgm:prSet presAssocID="{25DC6F67-C836-4584-B28E-B52AE3DBF50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5DF0EBB-2938-4F73-B44D-A360670DF560}" type="pres">
      <dgm:prSet presAssocID="{25DC6F67-C836-4584-B28E-B52AE3DBF507}" presName="spaceRect" presStyleCnt="0"/>
      <dgm:spPr/>
    </dgm:pt>
    <dgm:pt modelId="{3756D045-8D10-4200-8C42-23A08243E54A}" type="pres">
      <dgm:prSet presAssocID="{25DC6F67-C836-4584-B28E-B52AE3DBF507}" presName="parTx" presStyleLbl="revTx" presStyleIdx="4" presStyleCnt="6">
        <dgm:presLayoutVars>
          <dgm:chMax val="0"/>
          <dgm:chPref val="0"/>
        </dgm:presLayoutVars>
      </dgm:prSet>
      <dgm:spPr/>
    </dgm:pt>
    <dgm:pt modelId="{403D2DDC-743B-4E83-96C5-E0902E8223E6}" type="pres">
      <dgm:prSet presAssocID="{08F6AE2F-0E8E-46E4-A550-C032D27EBA52}" presName="sibTrans" presStyleCnt="0"/>
      <dgm:spPr/>
    </dgm:pt>
    <dgm:pt modelId="{E56D85C1-0AAF-463C-8D33-7521F325BE9A}" type="pres">
      <dgm:prSet presAssocID="{5793FE81-E805-4752-BC23-591814B2615C}" presName="compNode" presStyleCnt="0"/>
      <dgm:spPr/>
    </dgm:pt>
    <dgm:pt modelId="{36A2634F-91A4-476F-8C7A-1282097B8268}" type="pres">
      <dgm:prSet presAssocID="{5793FE81-E805-4752-BC23-591814B2615C}" presName="bgRect" presStyleLbl="bgShp" presStyleIdx="5" presStyleCnt="6"/>
      <dgm:spPr/>
    </dgm:pt>
    <dgm:pt modelId="{66D6A1FF-B157-4C6E-8BC9-D8108D1EEF57}" type="pres">
      <dgm:prSet presAssocID="{5793FE81-E805-4752-BC23-591814B2615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23AA36B2-9E08-4568-B7A9-D3ED554A1E4D}" type="pres">
      <dgm:prSet presAssocID="{5793FE81-E805-4752-BC23-591814B2615C}" presName="spaceRect" presStyleCnt="0"/>
      <dgm:spPr/>
    </dgm:pt>
    <dgm:pt modelId="{B714D233-1EBE-4656-8B15-19C78AC29892}" type="pres">
      <dgm:prSet presAssocID="{5793FE81-E805-4752-BC23-591814B2615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EF1803C-E734-4F97-A673-9D504D7F596C}" srcId="{1DF2E9FD-93E6-4241-B60F-316E4C008E29}" destId="{25DC6F67-C836-4584-B28E-B52AE3DBF507}" srcOrd="4" destOrd="0" parTransId="{3F805671-5020-4C5D-B4A9-BEAC9131B3A8}" sibTransId="{08F6AE2F-0E8E-46E4-A550-C032D27EBA52}"/>
    <dgm:cxn modelId="{4FD44B63-81FF-402E-B6DF-1B3959C209A1}" type="presOf" srcId="{1DF2E9FD-93E6-4241-B60F-316E4C008E29}" destId="{3697B9A2-4BDA-4DE8-B03E-DAEF518F7162}" srcOrd="0" destOrd="0" presId="urn:microsoft.com/office/officeart/2018/2/layout/IconVerticalSolidList"/>
    <dgm:cxn modelId="{E0E4456A-C550-433F-B54A-0E62AD31E186}" srcId="{1DF2E9FD-93E6-4241-B60F-316E4C008E29}" destId="{0D1028FC-A757-4CB2-98BB-44C7AFF5D192}" srcOrd="2" destOrd="0" parTransId="{62BEE578-327C-47EE-A18A-3AB4BB671B1B}" sibTransId="{D4459220-872E-4A29-AD1B-00598710970A}"/>
    <dgm:cxn modelId="{7129E26C-9B43-4F8D-9A3A-CE3F556B296A}" type="presOf" srcId="{8A42FBE4-69FF-4B0B-9BC0-9C6D91C57803}" destId="{C6912A7E-3D18-4DD1-A60F-3217D09BB95C}" srcOrd="0" destOrd="0" presId="urn:microsoft.com/office/officeart/2018/2/layout/IconVerticalSolidList"/>
    <dgm:cxn modelId="{46AD2D4D-B93B-411C-9039-D8D957520FCD}" type="presOf" srcId="{25DC6F67-C836-4584-B28E-B52AE3DBF507}" destId="{3756D045-8D10-4200-8C42-23A08243E54A}" srcOrd="0" destOrd="0" presId="urn:microsoft.com/office/officeart/2018/2/layout/IconVerticalSolidList"/>
    <dgm:cxn modelId="{BF3EB972-3804-4078-B1C0-DDE49E016FAA}" type="presOf" srcId="{62C8BBBE-B8D6-4757-9A0E-3B9B44C10837}" destId="{DDCFD58B-2A9A-4985-9907-5CF2C6A5F9E6}" srcOrd="0" destOrd="0" presId="urn:microsoft.com/office/officeart/2018/2/layout/IconVerticalSolidList"/>
    <dgm:cxn modelId="{B55CD455-127E-4C09-907C-20EE8B6FB5A3}" type="presOf" srcId="{0D1028FC-A757-4CB2-98BB-44C7AFF5D192}" destId="{87200EF8-6D0F-47AC-88C1-31AADC49B89A}" srcOrd="0" destOrd="0" presId="urn:microsoft.com/office/officeart/2018/2/layout/IconVerticalSolidList"/>
    <dgm:cxn modelId="{CE742276-7B23-4F55-8F9E-1D24A39FF5FA}" srcId="{1DF2E9FD-93E6-4241-B60F-316E4C008E29}" destId="{62C8BBBE-B8D6-4757-9A0E-3B9B44C10837}" srcOrd="0" destOrd="0" parTransId="{C31AC381-ED4C-4234-99F4-FBC3BA22E463}" sibTransId="{8E2172F3-EE10-4FB7-9227-E3A3B92B17ED}"/>
    <dgm:cxn modelId="{02FCF67B-10EE-4216-B9ED-0D0B6B13A1C1}" type="presOf" srcId="{5793FE81-E805-4752-BC23-591814B2615C}" destId="{B714D233-1EBE-4656-8B15-19C78AC29892}" srcOrd="0" destOrd="0" presId="urn:microsoft.com/office/officeart/2018/2/layout/IconVerticalSolidList"/>
    <dgm:cxn modelId="{00C12F97-404C-4320-BA6C-CEFEB9C8835F}" srcId="{1DF2E9FD-93E6-4241-B60F-316E4C008E29}" destId="{5793FE81-E805-4752-BC23-591814B2615C}" srcOrd="5" destOrd="0" parTransId="{5498D509-A05A-49D2-B4BE-1EE757B9DA55}" sibTransId="{615AE90C-6348-4714-9A01-103FA98D6B8F}"/>
    <dgm:cxn modelId="{11323AA9-56D0-4FF0-9F77-7B18D41CD355}" srcId="{1DF2E9FD-93E6-4241-B60F-316E4C008E29}" destId="{0521A328-F45D-4F78-A0E3-30EBB72621E3}" srcOrd="1" destOrd="0" parTransId="{2225F51E-1A67-468C-A600-AD7050D4F679}" sibTransId="{57E58A83-51D6-47EA-A57A-18DECF846C7D}"/>
    <dgm:cxn modelId="{CA33ADE7-8102-4BDD-B0FE-4E0CE2105847}" srcId="{1DF2E9FD-93E6-4241-B60F-316E4C008E29}" destId="{8A42FBE4-69FF-4B0B-9BC0-9C6D91C57803}" srcOrd="3" destOrd="0" parTransId="{4DA97690-1B5C-40EC-A227-82B1A2997892}" sibTransId="{2D53A9C7-4CCE-41A6-9DEC-734B5232F855}"/>
    <dgm:cxn modelId="{749C9FFE-423E-443F-8E22-0B99C10FA43D}" type="presOf" srcId="{0521A328-F45D-4F78-A0E3-30EBB72621E3}" destId="{F35B2F53-EF85-4C62-AA8D-F7C55214E32F}" srcOrd="0" destOrd="0" presId="urn:microsoft.com/office/officeart/2018/2/layout/IconVerticalSolidList"/>
    <dgm:cxn modelId="{CA09D011-2C93-4944-935A-0C30DA320FF9}" type="presParOf" srcId="{3697B9A2-4BDA-4DE8-B03E-DAEF518F7162}" destId="{1FEBD717-6D81-4525-A95E-EC8C666E190A}" srcOrd="0" destOrd="0" presId="urn:microsoft.com/office/officeart/2018/2/layout/IconVerticalSolidList"/>
    <dgm:cxn modelId="{C1DF727F-8270-4502-BBBE-B3D0BCF568FC}" type="presParOf" srcId="{1FEBD717-6D81-4525-A95E-EC8C666E190A}" destId="{4C3E6130-F3AE-4918-A8C3-57C91685A10F}" srcOrd="0" destOrd="0" presId="urn:microsoft.com/office/officeart/2018/2/layout/IconVerticalSolidList"/>
    <dgm:cxn modelId="{187D9107-61FD-468F-828A-99510112F552}" type="presParOf" srcId="{1FEBD717-6D81-4525-A95E-EC8C666E190A}" destId="{0874DB34-F554-4A3B-A0C7-3829A41DB541}" srcOrd="1" destOrd="0" presId="urn:microsoft.com/office/officeart/2018/2/layout/IconVerticalSolidList"/>
    <dgm:cxn modelId="{F44105BD-589B-4890-AEC8-8D09F29189D8}" type="presParOf" srcId="{1FEBD717-6D81-4525-A95E-EC8C666E190A}" destId="{77D56734-BD6D-4AE9-88E0-4F602AB90B44}" srcOrd="2" destOrd="0" presId="urn:microsoft.com/office/officeart/2018/2/layout/IconVerticalSolidList"/>
    <dgm:cxn modelId="{71D74E35-8CEF-4744-8737-7C761E61197C}" type="presParOf" srcId="{1FEBD717-6D81-4525-A95E-EC8C666E190A}" destId="{DDCFD58B-2A9A-4985-9907-5CF2C6A5F9E6}" srcOrd="3" destOrd="0" presId="urn:microsoft.com/office/officeart/2018/2/layout/IconVerticalSolidList"/>
    <dgm:cxn modelId="{E9602620-0E88-48AC-8863-FA5EFD53C22F}" type="presParOf" srcId="{3697B9A2-4BDA-4DE8-B03E-DAEF518F7162}" destId="{FB439075-9BC9-4577-A762-A90224E5C5B1}" srcOrd="1" destOrd="0" presId="urn:microsoft.com/office/officeart/2018/2/layout/IconVerticalSolidList"/>
    <dgm:cxn modelId="{E5655699-186C-4CD6-8848-06B88776A984}" type="presParOf" srcId="{3697B9A2-4BDA-4DE8-B03E-DAEF518F7162}" destId="{63505CB2-C0E2-4ED8-976E-27D834CD6F6A}" srcOrd="2" destOrd="0" presId="urn:microsoft.com/office/officeart/2018/2/layout/IconVerticalSolidList"/>
    <dgm:cxn modelId="{91C517DA-8A43-4DEE-8FB6-EE056CAF808D}" type="presParOf" srcId="{63505CB2-C0E2-4ED8-976E-27D834CD6F6A}" destId="{AF3267CE-4F18-4266-B244-FF47498D1737}" srcOrd="0" destOrd="0" presId="urn:microsoft.com/office/officeart/2018/2/layout/IconVerticalSolidList"/>
    <dgm:cxn modelId="{649E1BF9-513F-4C74-8824-0A54D61DF37B}" type="presParOf" srcId="{63505CB2-C0E2-4ED8-976E-27D834CD6F6A}" destId="{40635FDC-F3A2-4967-A3D8-7BF07840BAD9}" srcOrd="1" destOrd="0" presId="urn:microsoft.com/office/officeart/2018/2/layout/IconVerticalSolidList"/>
    <dgm:cxn modelId="{C0F35421-4FFE-4129-9A6A-0DE02BF3AA4A}" type="presParOf" srcId="{63505CB2-C0E2-4ED8-976E-27D834CD6F6A}" destId="{0FA8A459-3255-4121-B60D-9A0DA4D742EC}" srcOrd="2" destOrd="0" presId="urn:microsoft.com/office/officeart/2018/2/layout/IconVerticalSolidList"/>
    <dgm:cxn modelId="{6685989E-1B42-4D63-87A0-7D4CD898B54A}" type="presParOf" srcId="{63505CB2-C0E2-4ED8-976E-27D834CD6F6A}" destId="{F35B2F53-EF85-4C62-AA8D-F7C55214E32F}" srcOrd="3" destOrd="0" presId="urn:microsoft.com/office/officeart/2018/2/layout/IconVerticalSolidList"/>
    <dgm:cxn modelId="{9103AD90-1E49-4DA9-9122-488D9F791F91}" type="presParOf" srcId="{3697B9A2-4BDA-4DE8-B03E-DAEF518F7162}" destId="{EF0D9EDC-D5F3-411E-ABD2-E77B2D063D18}" srcOrd="3" destOrd="0" presId="urn:microsoft.com/office/officeart/2018/2/layout/IconVerticalSolidList"/>
    <dgm:cxn modelId="{B7C23711-D06C-44D3-AA52-FE0C6BFCBA60}" type="presParOf" srcId="{3697B9A2-4BDA-4DE8-B03E-DAEF518F7162}" destId="{D02DE8DF-2D90-48F4-9288-987D4D21391C}" srcOrd="4" destOrd="0" presId="urn:microsoft.com/office/officeart/2018/2/layout/IconVerticalSolidList"/>
    <dgm:cxn modelId="{5EE9C60B-4218-44C9-9EE1-776BBD96356D}" type="presParOf" srcId="{D02DE8DF-2D90-48F4-9288-987D4D21391C}" destId="{04E368FF-5040-494F-9D6A-3C4B6AD51E41}" srcOrd="0" destOrd="0" presId="urn:microsoft.com/office/officeart/2018/2/layout/IconVerticalSolidList"/>
    <dgm:cxn modelId="{5DC60AA0-1445-442F-9D36-F7F71751BD5F}" type="presParOf" srcId="{D02DE8DF-2D90-48F4-9288-987D4D21391C}" destId="{6320920F-4112-4881-816D-AB0F8917CFDD}" srcOrd="1" destOrd="0" presId="urn:microsoft.com/office/officeart/2018/2/layout/IconVerticalSolidList"/>
    <dgm:cxn modelId="{E16AE8CF-EA49-4C9B-8C7E-63D66A0AD0D0}" type="presParOf" srcId="{D02DE8DF-2D90-48F4-9288-987D4D21391C}" destId="{E870E8CE-736E-4F59-A4CD-AD18EDDE5FC6}" srcOrd="2" destOrd="0" presId="urn:microsoft.com/office/officeart/2018/2/layout/IconVerticalSolidList"/>
    <dgm:cxn modelId="{5CB95E76-0B2E-4D34-A137-49616D03FD79}" type="presParOf" srcId="{D02DE8DF-2D90-48F4-9288-987D4D21391C}" destId="{87200EF8-6D0F-47AC-88C1-31AADC49B89A}" srcOrd="3" destOrd="0" presId="urn:microsoft.com/office/officeart/2018/2/layout/IconVerticalSolidList"/>
    <dgm:cxn modelId="{9C3F4C90-1F36-4BEC-9A95-6C6C2FD33656}" type="presParOf" srcId="{3697B9A2-4BDA-4DE8-B03E-DAEF518F7162}" destId="{9372C77C-8D55-4451-A17C-007C9F5012FB}" srcOrd="5" destOrd="0" presId="urn:microsoft.com/office/officeart/2018/2/layout/IconVerticalSolidList"/>
    <dgm:cxn modelId="{5BCB5397-8D04-4594-9375-0557980DBBE5}" type="presParOf" srcId="{3697B9A2-4BDA-4DE8-B03E-DAEF518F7162}" destId="{989A6FC5-8B03-4CA7-A894-21B8097AC20F}" srcOrd="6" destOrd="0" presId="urn:microsoft.com/office/officeart/2018/2/layout/IconVerticalSolidList"/>
    <dgm:cxn modelId="{9C0A32DD-7A70-4F75-8B0B-2EB968738853}" type="presParOf" srcId="{989A6FC5-8B03-4CA7-A894-21B8097AC20F}" destId="{C2847306-0BAA-49F1-96E1-2C13F2214FCF}" srcOrd="0" destOrd="0" presId="urn:microsoft.com/office/officeart/2018/2/layout/IconVerticalSolidList"/>
    <dgm:cxn modelId="{CBAC9997-4DDD-49C8-8846-5C6FC2C23F9C}" type="presParOf" srcId="{989A6FC5-8B03-4CA7-A894-21B8097AC20F}" destId="{689EC570-ED14-4050-A798-64BE3BF64300}" srcOrd="1" destOrd="0" presId="urn:microsoft.com/office/officeart/2018/2/layout/IconVerticalSolidList"/>
    <dgm:cxn modelId="{6A1ADBAF-479B-4325-920C-AF28B9CAEBFB}" type="presParOf" srcId="{989A6FC5-8B03-4CA7-A894-21B8097AC20F}" destId="{988A32A6-2C3E-455A-975A-543D99E8B6BD}" srcOrd="2" destOrd="0" presId="urn:microsoft.com/office/officeart/2018/2/layout/IconVerticalSolidList"/>
    <dgm:cxn modelId="{A58A097A-9280-4EFD-8F8A-E0BAD7132745}" type="presParOf" srcId="{989A6FC5-8B03-4CA7-A894-21B8097AC20F}" destId="{C6912A7E-3D18-4DD1-A60F-3217D09BB95C}" srcOrd="3" destOrd="0" presId="urn:microsoft.com/office/officeart/2018/2/layout/IconVerticalSolidList"/>
    <dgm:cxn modelId="{91CB4036-A175-43CA-AEA1-4428C32CF1BF}" type="presParOf" srcId="{3697B9A2-4BDA-4DE8-B03E-DAEF518F7162}" destId="{A015889B-0D63-4F0E-A744-8B450E853D1F}" srcOrd="7" destOrd="0" presId="urn:microsoft.com/office/officeart/2018/2/layout/IconVerticalSolidList"/>
    <dgm:cxn modelId="{7AD95134-454F-42CE-83E4-E50672F40EC2}" type="presParOf" srcId="{3697B9A2-4BDA-4DE8-B03E-DAEF518F7162}" destId="{C70B8832-F24B-4F0D-BCA6-04F4E2EC53F3}" srcOrd="8" destOrd="0" presId="urn:microsoft.com/office/officeart/2018/2/layout/IconVerticalSolidList"/>
    <dgm:cxn modelId="{0267356E-8BEF-4831-9EE5-D4F52FC1FC01}" type="presParOf" srcId="{C70B8832-F24B-4F0D-BCA6-04F4E2EC53F3}" destId="{23D69C35-45B6-43DC-AFDE-6C3B4CE2350D}" srcOrd="0" destOrd="0" presId="urn:microsoft.com/office/officeart/2018/2/layout/IconVerticalSolidList"/>
    <dgm:cxn modelId="{CB4E2A29-80FE-415F-B035-812BD7C2F7D2}" type="presParOf" srcId="{C70B8832-F24B-4F0D-BCA6-04F4E2EC53F3}" destId="{77531163-7BAC-4301-8518-B43613AF3FF8}" srcOrd="1" destOrd="0" presId="urn:microsoft.com/office/officeart/2018/2/layout/IconVerticalSolidList"/>
    <dgm:cxn modelId="{8C5DD1E2-8F70-473F-887C-D8DD8ECBBDA8}" type="presParOf" srcId="{C70B8832-F24B-4F0D-BCA6-04F4E2EC53F3}" destId="{D5DF0EBB-2938-4F73-B44D-A360670DF560}" srcOrd="2" destOrd="0" presId="urn:microsoft.com/office/officeart/2018/2/layout/IconVerticalSolidList"/>
    <dgm:cxn modelId="{733E471A-9B27-4462-A453-6FAD0B511FFC}" type="presParOf" srcId="{C70B8832-F24B-4F0D-BCA6-04F4E2EC53F3}" destId="{3756D045-8D10-4200-8C42-23A08243E54A}" srcOrd="3" destOrd="0" presId="urn:microsoft.com/office/officeart/2018/2/layout/IconVerticalSolidList"/>
    <dgm:cxn modelId="{D92C54BC-5301-4623-A69D-E282184667C2}" type="presParOf" srcId="{3697B9A2-4BDA-4DE8-B03E-DAEF518F7162}" destId="{403D2DDC-743B-4E83-96C5-E0902E8223E6}" srcOrd="9" destOrd="0" presId="urn:microsoft.com/office/officeart/2018/2/layout/IconVerticalSolidList"/>
    <dgm:cxn modelId="{99737F8B-7B82-4C8E-AF28-3A501E6978AB}" type="presParOf" srcId="{3697B9A2-4BDA-4DE8-B03E-DAEF518F7162}" destId="{E56D85C1-0AAF-463C-8D33-7521F325BE9A}" srcOrd="10" destOrd="0" presId="urn:microsoft.com/office/officeart/2018/2/layout/IconVerticalSolidList"/>
    <dgm:cxn modelId="{1CE54920-3EC5-43CA-89CC-27100502FA39}" type="presParOf" srcId="{E56D85C1-0AAF-463C-8D33-7521F325BE9A}" destId="{36A2634F-91A4-476F-8C7A-1282097B8268}" srcOrd="0" destOrd="0" presId="urn:microsoft.com/office/officeart/2018/2/layout/IconVerticalSolidList"/>
    <dgm:cxn modelId="{EFC4D819-9053-4463-B907-142DFE9AF3BB}" type="presParOf" srcId="{E56D85C1-0AAF-463C-8D33-7521F325BE9A}" destId="{66D6A1FF-B157-4C6E-8BC9-D8108D1EEF57}" srcOrd="1" destOrd="0" presId="urn:microsoft.com/office/officeart/2018/2/layout/IconVerticalSolidList"/>
    <dgm:cxn modelId="{E6B2BE62-EFBF-4732-BCEF-B9F8B2C02799}" type="presParOf" srcId="{E56D85C1-0AAF-463C-8D33-7521F325BE9A}" destId="{23AA36B2-9E08-4568-B7A9-D3ED554A1E4D}" srcOrd="2" destOrd="0" presId="urn:microsoft.com/office/officeart/2018/2/layout/IconVerticalSolidList"/>
    <dgm:cxn modelId="{FCE4024E-309A-4649-A7E5-A5DB59D94EBE}" type="presParOf" srcId="{E56D85C1-0AAF-463C-8D33-7521F325BE9A}" destId="{B714D233-1EBE-4656-8B15-19C78AC298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E6130-F3AE-4918-A8C3-57C91685A10F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4DB34-F554-4A3B-A0C7-3829A41DB541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FD58B-2A9A-4985-9907-5CF2C6A5F9E6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Scope Definition &amp; Leadership Commitment</a:t>
          </a:r>
        </a:p>
      </dsp:txBody>
      <dsp:txXfrm>
        <a:off x="877842" y="1783"/>
        <a:ext cx="5486381" cy="760036"/>
      </dsp:txXfrm>
    </dsp:sp>
    <dsp:sp modelId="{AF3267CE-4F18-4266-B244-FF47498D1737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35FDC-F3A2-4967-A3D8-7BF07840BAD9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B2F53-EF85-4C62-AA8D-F7C55214E32F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Gap Analysis &amp; Risk Assessment</a:t>
          </a:r>
        </a:p>
      </dsp:txBody>
      <dsp:txXfrm>
        <a:off x="877842" y="951829"/>
        <a:ext cx="5486381" cy="760036"/>
      </dsp:txXfrm>
    </dsp:sp>
    <dsp:sp modelId="{04E368FF-5040-494F-9D6A-3C4B6AD51E41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20920F-4112-4881-816D-AB0F8917CFDD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00EF8-6D0F-47AC-88C1-31AADC49B89A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 Selection &amp; Documentation</a:t>
          </a:r>
        </a:p>
      </dsp:txBody>
      <dsp:txXfrm>
        <a:off x="877842" y="1901874"/>
        <a:ext cx="5486381" cy="760036"/>
      </dsp:txXfrm>
    </dsp:sp>
    <dsp:sp modelId="{C2847306-0BAA-49F1-96E1-2C13F2214FCF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EC570-ED14-4050-A798-64BE3BF64300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12A7E-3D18-4DD1-A60F-3217D09BB95C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 Implementation &amp; Awareness Training</a:t>
          </a:r>
        </a:p>
      </dsp:txBody>
      <dsp:txXfrm>
        <a:off x="877842" y="2851920"/>
        <a:ext cx="5486381" cy="760036"/>
      </dsp:txXfrm>
    </dsp:sp>
    <dsp:sp modelId="{23D69C35-45B6-43DC-AFDE-6C3B4CE2350D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31163-7BAC-4301-8518-B43613AF3FF8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6D045-8D10-4200-8C42-23A08243E54A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Internal Audit &amp; Management Review</a:t>
          </a:r>
        </a:p>
      </dsp:txBody>
      <dsp:txXfrm>
        <a:off x="877842" y="3801966"/>
        <a:ext cx="5486381" cy="760036"/>
      </dsp:txXfrm>
    </dsp:sp>
    <dsp:sp modelId="{36A2634F-91A4-476F-8C7A-1282097B8268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6A1FF-B157-4C6E-8BC9-D8108D1EEF57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4D233-1EBE-4656-8B15-19C78AC29892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Certification </a:t>
          </a:r>
          <a:r>
            <a:rPr lang="en-US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Readines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7842" y="4752011"/>
        <a:ext cx="5486381" cy="760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FEBF-7D35-F46B-F5C0-9F1D549E3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DB96F-027F-372E-30DC-54C462568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CF0D-9766-2806-49CF-DA9F75AA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3769-B982-150A-4897-4E02CC29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57B25-7B64-45A6-9EDB-535ABFCE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3813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1E20-F432-D5CD-51F6-9A2CF7CA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BC0E-A40E-9864-B1A3-8C647930A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660AD-0C16-EBD6-2CC4-C1E79F9D6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DE64-302F-2937-06F8-8B0C46EC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10A9E-615C-D7EC-40D8-CB735C2A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6618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14B2-304E-D4C1-C3EA-43D07B703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6574F-3DE7-BCE0-5D50-A9AA62235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7D97-FAB1-189C-1DCF-755D0BB9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2CE49-C7BE-9A77-086A-9CECE50F9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2EC4E-79C6-2BF7-9DB0-CEAA3875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3166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CC24-D5D1-6C9D-A5ED-EBE4F0FA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DAB1-3463-615F-781F-7967892B2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D0AC-C8D8-E3D9-A19B-9EA03461E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0339D-706E-7CCC-51E9-01E24B9F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51658-6F89-629E-3D2E-B4AC6B2F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1ACB7-8CD5-4973-BD3F-3F85F8C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4817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5CE9-B8BB-EBF1-3584-FC6BDB4B8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1D6D7-49B2-F3A8-D9A9-CF5FA5D56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51534-CB26-A5C3-77FC-AB6F6947A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171CA-0A5F-1355-F99A-853042689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9E6B2-E00E-39E8-0855-7A9A04855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62736-095D-DFC4-2ADC-20DE757E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78D3-A9BB-5EB2-B603-55CF94ED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D3EAC-2EF3-C5D4-A3A1-0E625BF8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5800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2B8F-3317-A122-928E-CA3F6F65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C0ABA-5ED5-5AD6-828F-DE4CE33F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FC60E-1E56-AB76-D81E-C5DD39D2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495CE-E649-CA17-4747-98B0C5EFB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9560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DC169-9B53-FFC8-5C80-67C961EF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102A0-1FF2-CFBA-F103-7F33FE8E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A17C2-C92C-AE8A-3460-25D88E84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4645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3E59-92AE-0160-BFB5-96B4458F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A495B-1955-53FE-8405-837D92A8C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AD418-E191-39E8-FA3D-2DD8DB8AA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08818-45D6-1823-F9EC-70A2A442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4A-3344-5C3B-1C49-A2AF34345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AE6E0-27BD-7FDF-AE09-D02EA040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583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F771-DF18-F5F2-6520-31ABDAE2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9D717-734C-322F-0F9B-B73A70A1E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6568B-8741-AC3F-3B35-8592982B9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E1C44-4D30-7575-AF1E-810EDACC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5F22A-92A0-5197-7B50-A3A7224E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6A65-F5EF-DA43-BF21-FDBC99BF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3360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5518-6887-662E-0702-6C1B853B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52A9A-770C-FCBC-1E91-E22603272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B7BD6-6C06-A52C-143E-D9005A1F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89DF-7761-ACAC-94EC-7E79A8AE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66D45-B25B-CBDF-8063-C87D5EF7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333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DD6D5-69C2-FC6E-A912-A75CF1782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FD542-9343-B779-F443-5D98440C6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BDBE-460F-9804-7CB6-2CC15075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1BEF8-D34F-84E9-8A30-6A755228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F9AD4-60AD-2DEC-7604-8E986C12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43613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061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0627B-7C2A-27BB-0B44-BF0C6018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195AF-C964-657B-406A-530624F17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06FB3-D8A0-BD03-8A40-E3528E324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9C63A-E936-4751-9A12-BB631F384B88}" type="datetimeFigureOut">
              <a:rPr lang="en-KE" smtClean="0"/>
              <a:t>13/01/2026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50CEE-E8F1-0793-097D-6D1E96F67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1D143-A125-1386-A6B3-D2ECEE16F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A1AFB-BAAB-44D2-B29F-801392103E3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13562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442CA-D672-965A-F261-BE5391A70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7498491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STRENGTHENING WITH ISO/IEC 27001:2022</a:t>
            </a:r>
            <a:endParaRPr lang="en-KE" sz="4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4F988-A50B-B097-B84B-B9537E46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464644" cy="107805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TANIA BWARI [ISO CONSULTANT]</a:t>
            </a:r>
          </a:p>
          <a:p>
            <a:pPr algn="l"/>
            <a:endParaRPr lang="en-K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201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0676-A534-8AB7-4FB4-EBA1267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27001: 2022</a:t>
            </a:r>
            <a:endParaRPr lang="en-K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72FB8-2493-7F42-67F0-DC09CB710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64" y="921056"/>
            <a:ext cx="10515600" cy="5705885"/>
          </a:xfrm>
        </p:spPr>
        <p:txBody>
          <a:bodyPr/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international standard for establishing, implementing, maintaining and continually improving an Information Security Management Systems (ISMS)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risk-based security governance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confidentiality, integrity and availability of information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security controls with business objectives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identify, analyze and treat risks systematically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dirty="0"/>
          </a:p>
        </p:txBody>
      </p:sp>
      <p:pic>
        <p:nvPicPr>
          <p:cNvPr id="4" name="Picture 8" descr="ISO 27001:2022 Controls List: Everything You Need to Know - Spectral">
            <a:extLst>
              <a:ext uri="{FF2B5EF4-FFF2-40B4-BE49-F238E27FC236}">
                <a16:creationId xmlns:a16="http://schemas.microsoft.com/office/drawing/2014/main" id="{B5FF9670-836F-A452-CCA5-6B0D6E92B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83" y="3414265"/>
            <a:ext cx="4902801" cy="275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235B38-6DED-899E-7671-147F82E5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449" y="3394598"/>
            <a:ext cx="3408861" cy="297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9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7B55B-4559-E9EE-3380-8005CA92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EEC898-2C18-7925-1EEC-C44D4180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ISO 27001 IS IMPORTANT TO A SACCO</a:t>
            </a:r>
            <a:endParaRPr lang="en-K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451F-D527-FE73-B91D-263C1A84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Nususi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SACCO, ISO 27001 supports: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of member personal and financial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operation of core banking and digital channels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regulatory and legal regulations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oversight of vendors and outsourced services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governance and accountability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KE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8B532-18C8-1202-D859-3E4E3B5FA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973" y="2405894"/>
            <a:ext cx="5047112" cy="25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4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64ED3-1BAC-677E-60F0-912B827E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18A5E-9D1F-6C1F-54E4-D8E788CE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351934"/>
          </a:xfrm>
        </p:spPr>
        <p:txBody>
          <a:bodyPr anchor="ctr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ANALYSIS</a:t>
            </a:r>
            <a:endParaRPr lang="en-K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DD04D-C04B-9E40-3D69-47B5345D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858298"/>
            <a:ext cx="5648832" cy="4381782"/>
          </a:xfrm>
        </p:spPr>
        <p:txBody>
          <a:bodyPr anchor="ctr">
            <a:normAutofit fontScale="32500" lnSpcReduction="20000"/>
          </a:bodyPr>
          <a:lstStyle/>
          <a:p>
            <a:pPr marL="0" indent="0">
              <a:buNone/>
            </a:pP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cost estimation in Kenya – KES 300,000 – 1,500,000 – Depending on scope and complexity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buAutoNum type="arabicPeriod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 cost avoidance – Global Average breach cost is $4.45M</a:t>
            </a:r>
          </a:p>
          <a:p>
            <a:pPr marL="342900" indent="-342900">
              <a:buAutoNum type="arabicPeriod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audit &amp; Compliance costs – Fewer client/ vendor audits</a:t>
            </a:r>
          </a:p>
          <a:p>
            <a:pPr marL="342900" indent="-342900">
              <a:buAutoNum type="arabicPeriod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 – Unified processes reducing duplication and inefficiency</a:t>
            </a:r>
          </a:p>
          <a:p>
            <a:pPr marL="342900" indent="-342900">
              <a:buAutoNum type="arabicPeriod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trust &amp; competitiveness – Certified organizations promote trust, securing more business</a:t>
            </a:r>
          </a:p>
          <a:p>
            <a:pPr marL="342900" indent="-342900">
              <a:buAutoNum type="arabicPeriod"/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 of fines – Stronger regulatory and legal compliance</a:t>
            </a:r>
          </a:p>
          <a:p>
            <a:pPr marL="619125" lvl="1" indent="-342900">
              <a:buFont typeface="Wingdings" panose="05000000000000000000" pitchFamily="2" charset="2"/>
              <a:buChar char="Ø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SASRA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Requires strong internal controls</a:t>
            </a:r>
          </a:p>
          <a:p>
            <a:pPr marL="619125" lvl="1" indent="-342900">
              <a:buFont typeface="Wingdings" panose="05000000000000000000" pitchFamily="2" charset="2"/>
              <a:buChar char="Ø"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Kenya Data Protection Act (2019) 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Requires data protection controls on financial and personal data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1300" dirty="0"/>
          </a:p>
        </p:txBody>
      </p:sp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029E0E16-DAC3-7932-AD13-EEB7076F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21" r="30642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58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3BB1A-4499-14F1-9131-E0781FC2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25738-9AEC-5B02-1082-2397F18D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1161288"/>
            <a:ext cx="3832221" cy="452628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IMPLEMENTATION APPROACH</a:t>
            </a:r>
            <a:endParaRPr lang="en-KE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7379FB-81BF-9A15-E093-EE686E667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62405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960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7F8D9-E5C7-0984-A76C-6A8CDA8D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411CC-6509-4FF4-99DC-EC4E9086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903678"/>
            <a:ext cx="10066122" cy="781699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SENIOR MANAGEMENT</a:t>
            </a:r>
            <a:endParaRPr lang="en-KE" sz="3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57310-2210-0F09-FA47-E5A500F96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ISO 27001: 2022 Clause 5 requires senior management 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Approve the ISMS scope and policy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 adequate resource allocation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Review performance and improvement actions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Set the tone for security culture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36B0FC-02CF-2A84-9E0C-D4BC36790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05738"/>
            <a:ext cx="5150277" cy="287127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9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5AECC-0CCF-23A7-BD97-38F5465E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BF529-5B44-1145-F7C4-A399989D9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K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6D4AA-D2F9-701E-1ED2-7B101D1DF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438166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implementation,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Nususi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Sacco can expect: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and auditable IS Management System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ownership and accountability for information risks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Resilience against cyber and operational threats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reputation with members, regulators and partners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operational and audit overheads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K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7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43714-00CC-DB3A-C33C-FE249FDA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0DD19-0B6F-F465-60EC-806ACCD2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K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E111A-7835-B741-1127-437138E3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Action Requested: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 IEC 27001 implementation, funded and resourced under executive sponsorship, to deliver stronger information security, regulatory readiness, and member confidence</a:t>
            </a:r>
          </a:p>
          <a:p>
            <a:endParaRPr lang="en-K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4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18B2F-21CD-4998-DDA7-E2CC26B0B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:a16="http://schemas.microsoft.com/office/drawing/2014/main" id="{C1ED0AE5-1283-BB96-AC3B-7EF2C88763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C1F9036B-EE3E-C827-695D-37D315A13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F92D4-6DB6-EE80-8807-6F9DEAA2B4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Tania Bwari</a:t>
            </a:r>
          </a:p>
        </p:txBody>
      </p:sp>
      <p:pic>
        <p:nvPicPr>
          <p:cNvPr id="8" name="Graphic 7" descr="User" title="Icon - Presenter Name">
            <a:extLst>
              <a:ext uri="{FF2B5EF4-FFF2-40B4-BE49-F238E27FC236}">
                <a16:creationId xmlns:a16="http://schemas.microsoft.com/office/drawing/2014/main" id="{64BD538E-8BFB-767B-6988-91E3B6ACA5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177534-C519-AD6E-B726-ABA63A149F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+2547xxxxxxxx</a:t>
            </a:r>
          </a:p>
        </p:txBody>
      </p:sp>
      <p:pic>
        <p:nvPicPr>
          <p:cNvPr id="10" name="Graphic 9" descr="Smart Phone" title="Icon - Presenter Phone Number">
            <a:extLst>
              <a:ext uri="{FF2B5EF4-FFF2-40B4-BE49-F238E27FC236}">
                <a16:creationId xmlns:a16="http://schemas.microsoft.com/office/drawing/2014/main" id="{E5237944-4D7D-1B7F-FF78-617794A0D15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EF3282-D5F0-D92D-AD4A-2A7A5BFFCE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ISO CONSULTANT</a:t>
            </a:r>
          </a:p>
        </p:txBody>
      </p:sp>
      <p:pic>
        <p:nvPicPr>
          <p:cNvPr id="9" name="Graphic 8" descr="Envelope" title="Icon Presenter Email">
            <a:extLst>
              <a:ext uri="{FF2B5EF4-FFF2-40B4-BE49-F238E27FC236}">
                <a16:creationId xmlns:a16="http://schemas.microsoft.com/office/drawing/2014/main" id="{F015B64F-B287-7743-B35E-63E20E80BA6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FCAB5A-B577-984C-6E0F-20F2A55B4A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>
            <a:normAutofit fontScale="62500" lnSpcReduction="20000"/>
          </a:bodyPr>
          <a:lstStyle/>
          <a:p>
            <a:r>
              <a:rPr lang="en-US" dirty="0"/>
              <a:t>bwaritaniah47@gmail.com</a:t>
            </a:r>
          </a:p>
        </p:txBody>
      </p:sp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id="{BA7D374F-1737-6389-D86C-BFF6830C931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45185B-F065-C31A-F23A-BC7F581451F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80791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373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IS STRENGTHENING WITH ISO/IEC 27001:2022</vt:lpstr>
      <vt:lpstr>ISO/IEC 27001: 2022</vt:lpstr>
      <vt:lpstr>WHY ISO 27001 IS IMPORTANT TO A SACCO</vt:lpstr>
      <vt:lpstr>COST-BENEFIT ANALYSIS</vt:lpstr>
      <vt:lpstr>HIGH-LEVEL IMPLEMENTATION APPROACH</vt:lpstr>
      <vt:lpstr>ROLE OF SENIOR MANAGEMENT</vt:lpstr>
      <vt:lpstr>EXPECTED OUTCOMES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Taniah Bwari</dc:creator>
  <cp:lastModifiedBy>Taniah Bwari</cp:lastModifiedBy>
  <cp:revision>1</cp:revision>
  <dcterms:created xsi:type="dcterms:W3CDTF">2026-01-13T12:08:03Z</dcterms:created>
  <dcterms:modified xsi:type="dcterms:W3CDTF">2026-01-13T12:43:58Z</dcterms:modified>
</cp:coreProperties>
</file>